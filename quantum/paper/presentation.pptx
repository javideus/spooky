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CC9F0"/>
                </a:solidFill>
                <a:latin typeface="Calibri"/>
              </a:rPr>
              <a:t>SPOOKY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241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4F6FB"/>
                </a:solidFill>
                <a:latin typeface="Calibri"/>
              </a:rPr>
              <a:t>The QUBO Mathematical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Formulation, extensions beyond the paper, empirical weight tuning,
the binary-encoding dead end, and what a task-allocation layer would add.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3B0"/>
                </a:solidFill>
                <a:latin typeface="Calibri"/>
              </a:rPr>
              <a:t>Javier González Villasmil  ·  arXiv:2602.14799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6FB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5DE0"/>
                </a:solidFill>
                <a:latin typeface="Cambria Math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5819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F6FB"/>
                </a:solidFill>
                <a:latin typeface="Calibri"/>
              </a:rPr>
              <a:t>QUBO, not ILP→QUBO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9476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DB6D4"/>
                </a:solidFill>
                <a:latin typeface="Calibri"/>
              </a:rPr>
              <a:t>why the model is native QUBO from the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600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5DE0"/>
                </a:solidFill>
                <a:latin typeface="Cambria Math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58191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F6FB"/>
                </a:solidFill>
                <a:latin typeface="Calibri"/>
              </a:rPr>
              <a:t>Core penalties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94767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DB6D4"/>
                </a:solidFill>
                <a:latin typeface="Calibri"/>
              </a:rPr>
              <a:t>one-hot, adjacency, start/goal, lock — as in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0720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5DE0"/>
                </a:solidFill>
                <a:latin typeface="Cambria Math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88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F6FB"/>
                </a:solidFill>
                <a:latin typeface="Calibri"/>
              </a:rPr>
              <a:t>Extra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546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DB6D4"/>
                </a:solidFill>
                <a:latin typeface="Calibri"/>
              </a:rPr>
              <a:t>backtracking, teleportation, approximation heuristics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80720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5DE0"/>
                </a:solidFill>
                <a:latin typeface="Cambria Math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788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F6FB"/>
                </a:solidFill>
                <a:latin typeface="Calibri"/>
              </a:rPr>
              <a:t>Collision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546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DB6D4"/>
                </a:solidFill>
                <a:latin typeface="Calibri"/>
              </a:rPr>
              <a:t>crash penalty, and swap-collision (not in the paper)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1421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5DE0"/>
                </a:solidFill>
                <a:latin typeface="Cambria Math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959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F6FB"/>
                </a:solidFill>
                <a:latin typeface="Calibri"/>
              </a:rPr>
              <a:t>Weight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616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DB6D4"/>
                </a:solidFill>
                <a:latin typeface="Calibri"/>
              </a:rPr>
              <a:t>why it's empirical, and the current production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01421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5DE0"/>
                </a:solidFill>
                <a:latin typeface="Cambria Math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99592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F6FB"/>
                </a:solidFill>
                <a:latin typeface="Calibri"/>
              </a:rPr>
              <a:t>Binary vs one-hot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36168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DB6D4"/>
                </a:solidFill>
                <a:latin typeface="Calibri"/>
              </a:rPr>
              <a:t>the encoding explored on a branch — and why it lost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21224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B5DE0"/>
                </a:solidFill>
                <a:latin typeface="Cambria Math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0293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4F6FB"/>
                </a:solidFill>
                <a:latin typeface="Calibri"/>
              </a:rPr>
              <a:t>Task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56869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ADB6D4"/>
                </a:solidFill>
                <a:latin typeface="Calibri"/>
              </a:rPr>
              <a:t>the layer this system does not yet have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Agenda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9B5DE0"/>
                </a:solidFill>
                <a:latin typeface="Cambria Math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6FB"/>
                </a:solidFill>
                <a:latin typeface="Calibri"/>
              </a:rPr>
              <a:t>QUBO, Not ILP → QUBO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Spooky's model was never an integer/binary linear program that got compiled down.
It is authored directly as a QUBO — that distinction shapes everything after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QUBO, Not ILP → QUBO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MODELING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The standard pipeline vs. Spooky's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BF4F2"/>
          </a:solidFill>
          <a:ln w="12700">
            <a:solidFill>
              <a:srgbClr val="EED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5C5C"/>
                </a:solidFill>
                <a:latin typeface="Calibri"/>
              </a:rPr>
              <a:t>Standard OR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754880" cy="3566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1" i="0">
                <a:solidFill>
                  <a:srgbClr val="1B2238"/>
                </a:solidFill>
                <a:latin typeface="Calibri"/>
              </a:rPr>
              <a:t>Model as ILP / BLP: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1">
                <a:solidFill>
                  <a:srgbClr val="5C647A"/>
                </a:solidFill>
                <a:latin typeface="Calibri"/>
              </a:rPr>
              <a:t>min cᵀx  s.t.  Ax ≤ b,  x ∈ {0,1}ⁿ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Constraints are hard, explicit inequalities/equalities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Compile down to QUBO for a quantum/annealing solver: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0">
                <a:solidFill>
                  <a:srgbClr val="1B2238"/>
                </a:solidFill>
                <a:latin typeface="Calibri"/>
              </a:rPr>
              <a:t>add slack variables for every inequality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0">
                <a:solidFill>
                  <a:srgbClr val="1B2238"/>
                </a:solidFill>
                <a:latin typeface="Calibri"/>
              </a:rPr>
              <a:t>pick big-M penalty weights from a provable bound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0">
                <a:solidFill>
                  <a:srgbClr val="1B2238"/>
                </a:solidFill>
                <a:latin typeface="Calibri"/>
              </a:rPr>
              <a:t>flatten equalities into quadratic penalty terms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QUBO is a compilation target — a solver adapter, not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EEF9F4"/>
          </a:solidFill>
          <a:ln w="12700">
            <a:solidFill>
              <a:srgbClr val="C7E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9E6B"/>
                </a:solidFill>
                <a:latin typeface="Calibri"/>
              </a:rPr>
              <a:t>Spooky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754880" cy="3566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1" i="0">
                <a:solidFill>
                  <a:srgbClr val="1B2238"/>
                </a:solidFill>
                <a:latin typeface="Calibri"/>
              </a:rPr>
              <a:t>Model directly as a QUBO: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1">
                <a:solidFill>
                  <a:srgbClr val="5C647A"/>
                </a:solidFill>
                <a:latin typeface="Calibri"/>
              </a:rPr>
              <a:t>C(x) = Σₖ λₖ Pₖ(x)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No intermediate ILP layer, no slack variables, no big-M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Every requirement is authored as a quadratic penalty term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0">
                <a:solidFill>
                  <a:srgbClr val="1B2238"/>
                </a:solidFill>
                <a:latin typeface="Calibri"/>
              </a:rPr>
              <a:t>one-hot, adjacency, start/goal, crash, swap, …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Objective and “constraints” are the same mathematical object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Penalty weights (λ) are first-class, tuned directly —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0">
                <a:solidFill>
                  <a:srgbClr val="1B2238"/>
                </a:solidFill>
                <a:latin typeface="Calibri"/>
              </a:rPr>
              <a:t>not derived from a worst-case bound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QUBO, not ILP→QUBO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Big-M vs. tuned penalties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789920" cy="2377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550" b="0" i="0">
                <a:solidFill>
                  <a:srgbClr val="1B2238"/>
                </a:solidFill>
                <a:latin typeface="Calibri"/>
              </a:rPr>
              <a:t>Big-M conversion picks weights from a worst-case algebraic bound — mathematically safe, but it produces a poorly conditioned Q matrix (huge dynamic range between terms).</a:t>
            </a:r>
          </a:p>
          <a:p>
            <a:pPr algn="l" marL="201168" indent="-201168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550" b="0" i="0">
                <a:solidFill>
                  <a:srgbClr val="1B2238"/>
                </a:solidFill>
                <a:latin typeface="Calibri"/>
              </a:rPr>
              <a:t>A poorly conditioned Q matrix is exactly what breaks annealers and QAOA: dominant terms drown out weaker ones, and normalization can no longer rescue every term at once.</a:t>
            </a:r>
          </a:p>
          <a:p>
            <a:pPr algn="l" marL="201168" indent="-201168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550" b="0" i="0">
                <a:solidFill>
                  <a:srgbClr val="1B2238"/>
                </a:solidFill>
                <a:latin typeface="Calibri"/>
              </a:rPr>
              <a:t>Because Spooky's penalties are authored (not derived), each λ can be tuned against the solver's actual behavior — what the paper calls the empirical tuning process (Section 5).</a:t>
            </a:r>
          </a:p>
          <a:p>
            <a:pPr algn="l" marL="201168" indent="-201168">
              <a:lnSpc>
                <a:spcPct val="108000"/>
              </a:lnSpc>
              <a:spcAft>
                <a:spcPts val="1400"/>
              </a:spcAft>
              <a:buFont typeface="Arial"/>
              <a:buChar char="•"/>
            </a:pPr>
            <a:r>
              <a:rPr sz="1550" b="0" i="0">
                <a:solidFill>
                  <a:srgbClr val="1B2238"/>
                </a:solidFill>
                <a:latin typeface="Calibri"/>
              </a:rPr>
              <a:t>This also makes the unconstrained nature of QUBO an asset rather than a workaround: the “constraints” were never anything but penalty terms to begin with.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QUBO, not ILP→QUBO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QUBO: the core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486400" cy="91440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3400" b="0">
                <a:solidFill>
                  <a:srgbClr val="1B2238"/>
                </a:solidFill>
                <a:latin typeface="Cambria Math"/>
              </a:rPr>
              <a:t>C(x) = x</a:t>
            </a:r>
            <a:r>
              <a:rPr sz="2108" baseline="30000" b="0">
                <a:solidFill>
                  <a:srgbClr val="1B2238"/>
                </a:solidFill>
                <a:latin typeface="Cambria Math"/>
              </a:rPr>
              <a:t>T</a:t>
            </a:r>
            <a:r>
              <a:rPr sz="3400" b="0">
                <a:solidFill>
                  <a:srgbClr val="1B2238"/>
                </a:solidFill>
                <a:latin typeface="Cambria Math"/>
              </a:rPr>
              <a:t>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577840" cy="3291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x ∈ {0,1}ⁿ — binary decision variables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Q ∈ ℝⁿˣⁿ — symmetric / upper-triangular, encodes pairwise relations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Unconstrained: every requirement is embedded in the cost function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Diagonal of Q = linear terms  •  off-diagonal = quadratic (pairwise) terms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Since xⱼ = xⱼ² for binary variables, linear terms fold onto the diagonal — everything becomes one quadratic form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Equivalent to the Ising model (x → {−1,+1}) — the bridge to annealing / QAOA Hamiltonians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9202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5C647A"/>
                </a:solidFill>
                <a:latin typeface="Calibri"/>
              </a:rPr>
              <a:t>Objective = weighted penalty sum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23160"/>
            <a:ext cx="457200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700" b="0">
                <a:solidFill>
                  <a:srgbClr val="1B2238"/>
                </a:solidFill>
                <a:latin typeface="Cambria Math"/>
              </a:rPr>
              <a:t>F(x) = λ₁·distance(x) + λ₂·obstacle(x) +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246120"/>
            <a:ext cx="45720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C647A"/>
                </a:solidFill>
                <a:latin typeface="Calibri"/>
              </a:rPr>
              <a:t>The QUBO is not solved directly — it's converted into a Hamiltonian and solved via quantum annealing, QAOA, or classical simulated annealing. Spooky targets all three through the same builder → solver interface (DWave_solver.py, Pennylane_solver.py).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QUBO 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Variable encoding — grid &amp;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B5DE0"/>
                </a:solidFill>
                <a:latin typeface="Calibri"/>
              </a:rPr>
              <a:t>Grid (linear one-hot)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53949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900" b="0">
                <a:solidFill>
                  <a:srgbClr val="1B2238"/>
                </a:solidFill>
                <a:latin typeface="Cambria Math"/>
              </a:rPr>
              <a:t>idx = robot·(M·N·T) + t·(M·N) + i·N + 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B5DE0"/>
                </a:solidFill>
                <a:latin typeface="Calibri"/>
              </a:rPr>
              <a:t>Graph (node-based)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103120"/>
            <a:ext cx="5394960" cy="8229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1900" b="0">
                <a:solidFill>
                  <a:srgbClr val="1B2238"/>
                </a:solidFill>
                <a:latin typeface="Cambria Math"/>
              </a:rPr>
              <a:t>idx = robot·(nodes·T) + t·nodes + node</a:t>
            </a:r>
            <a:r>
              <a:rPr sz="1900" b="0">
                <a:solidFill>
                  <a:srgbClr val="1B2238"/>
                </a:solidFill>
                <a:latin typeface="Cambria Math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0789920" cy="2926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Groups variables per timestep, enumerated in standard reading order (grid) or node index (graph)</a:t>
            </a:r>
          </a:p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Multi-robot uses a global clock: robot 1 gets M·N·T slots, robot 2 the next M·N·T, and so on — linear index growth in the number of robots</a:t>
            </a:r>
          </a:p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Local per-robot time is offset relative to the first active robot, so collision penalties only need to compare robots active at the same absolute timestep</a:t>
            </a:r>
          </a:p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This exact index formula is what every penalty term below derives its variable indices from — any new constraint has to follow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Variable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9B5DE0"/>
                </a:solidFill>
                <a:latin typeface="Cambria Math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6FB"/>
                </a:solidFill>
                <a:latin typeface="Calibri"/>
              </a:rPr>
              <a:t>Core Constraint Penalties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The four penalties every valid QUBO path needs, plus goal-lock — straight from the paper's formulation section.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Core Constraint Penalties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CORE PENALTY ·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One-hotness — exactly one cell per timestep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1033272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0">
                <a:solidFill>
                  <a:srgbClr val="1B2238"/>
                </a:solidFill>
                <a:latin typeface="Cambria Math"/>
              </a:rPr>
              <a:t>P</a:t>
            </a:r>
            <a:r>
              <a:rPr sz="1488" baseline="-25000" b="0">
                <a:solidFill>
                  <a:srgbClr val="1B2238"/>
                </a:solidFill>
                <a:latin typeface="Cambria Math"/>
              </a:rPr>
              <a:t>hot</a:t>
            </a:r>
            <a:r>
              <a:rPr sz="2400" b="0">
                <a:solidFill>
                  <a:srgbClr val="1B2238"/>
                </a:solidFill>
                <a:latin typeface="Cambria Math"/>
              </a:rPr>
              <a:t> = K</a:t>
            </a:r>
            <a:r>
              <a:rPr sz="1488" baseline="-25000" b="0">
                <a:solidFill>
                  <a:srgbClr val="1B2238"/>
                </a:solidFill>
                <a:latin typeface="Cambria Math"/>
              </a:rPr>
              <a:t>hot</a:t>
            </a:r>
            <a:r>
              <a:rPr sz="2400" b="0">
                <a:solidFill>
                  <a:srgbClr val="1B2238"/>
                </a:solidFill>
                <a:latin typeface="Cambria Math"/>
              </a:rPr>
              <a:t> · Σ</a:t>
            </a:r>
            <a:r>
              <a:rPr sz="1488" baseline="-25000" b="0">
                <a:solidFill>
                  <a:srgbClr val="1B2238"/>
                </a:solidFill>
                <a:latin typeface="Cambria Math"/>
              </a:rPr>
              <a:t>t=0</a:t>
            </a:r>
            <a:r>
              <a:rPr sz="1488" baseline="30000" b="0">
                <a:solidFill>
                  <a:srgbClr val="1B2238"/>
                </a:solidFill>
                <a:latin typeface="Cambria Math"/>
              </a:rPr>
              <a:t>T</a:t>
            </a:r>
            <a:r>
              <a:rPr sz="2400" b="0">
                <a:solidFill>
                  <a:srgbClr val="1B2238"/>
                </a:solidFill>
                <a:latin typeface="Cambria Math"/>
              </a:rPr>
              <a:t> (1 − Σ</a:t>
            </a:r>
            <a:r>
              <a:rPr sz="1488" baseline="-25000" b="0">
                <a:solidFill>
                  <a:srgbClr val="1B2238"/>
                </a:solidFill>
                <a:latin typeface="Cambria Math"/>
              </a:rPr>
              <a:t>i,j</a:t>
            </a:r>
            <a:r>
              <a:rPr sz="2400" b="0">
                <a:solidFill>
                  <a:srgbClr val="1B2238"/>
                </a:solidFill>
                <a:latin typeface="Cambria Math"/>
              </a:rPr>
              <a:t> x</a:t>
            </a:r>
            <a:r>
              <a:rPr sz="1488" baseline="-25000" b="0">
                <a:solidFill>
                  <a:srgbClr val="1B2238"/>
                </a:solidFill>
                <a:latin typeface="Cambria Math"/>
              </a:rPr>
              <a:t>i,j,t</a:t>
            </a:r>
            <a:r>
              <a:rPr sz="2400" b="0">
                <a:solidFill>
                  <a:srgbClr val="1B2238"/>
                </a:solidFill>
                <a:latin typeface="Cambria Math"/>
              </a:rPr>
              <a:t>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0789920" cy="-1337799569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A physical agent occupies exactly one position at any given time — this penalty drives the QUBO toward that reality.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Expanding the square shows the origin of every cross-term xᵢxⱼ in Q: (Σx)² = Σx² + 2Σᵢ&lt;ⱼ xᵢxⱼ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Interacts strongly with the adjacency penalty below — the two frequently need post-processing to resolve disagreements (see the Continuity check, later in the paper).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CORE PENALTY ·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Adjacency — no teleporting between cells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1033272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50" b="0">
                <a:solidFill>
                  <a:srgbClr val="1B2238"/>
                </a:solidFill>
                <a:latin typeface="Cambria Math"/>
              </a:rPr>
              <a:t>P</a:t>
            </a:r>
            <a:r>
              <a:rPr sz="1147" baseline="-25000" b="0">
                <a:solidFill>
                  <a:srgbClr val="1B2238"/>
                </a:solidFill>
                <a:latin typeface="Cambria Math"/>
              </a:rPr>
              <a:t>adj</a:t>
            </a:r>
            <a:r>
              <a:rPr sz="1850" b="0">
                <a:solidFill>
                  <a:srgbClr val="1B2238"/>
                </a:solidFill>
                <a:latin typeface="Cambria Math"/>
              </a:rPr>
              <a:t> = K</a:t>
            </a:r>
            <a:r>
              <a:rPr sz="1147" baseline="-25000" b="0">
                <a:solidFill>
                  <a:srgbClr val="1B2238"/>
                </a:solidFill>
                <a:latin typeface="Cambria Math"/>
              </a:rPr>
              <a:t>adj</a:t>
            </a:r>
            <a:r>
              <a:rPr sz="1850" b="0">
                <a:solidFill>
                  <a:srgbClr val="1B2238"/>
                </a:solidFill>
                <a:latin typeface="Cambria Math"/>
              </a:rPr>
              <a:t> · Σ</a:t>
            </a:r>
            <a:r>
              <a:rPr sz="1147" baseline="-25000" b="0">
                <a:solidFill>
                  <a:srgbClr val="1B2238"/>
                </a:solidFill>
                <a:latin typeface="Cambria Math"/>
              </a:rPr>
              <a:t>t=0</a:t>
            </a:r>
            <a:r>
              <a:rPr sz="1147" baseline="30000" b="0">
                <a:solidFill>
                  <a:srgbClr val="1B2238"/>
                </a:solidFill>
                <a:latin typeface="Cambria Math"/>
              </a:rPr>
              <a:t>T−1</a:t>
            </a:r>
            <a:r>
              <a:rPr sz="1850" b="0">
                <a:solidFill>
                  <a:srgbClr val="1B2238"/>
                </a:solidFill>
                <a:latin typeface="Cambria Math"/>
              </a:rPr>
              <a:t> Σ</a:t>
            </a:r>
            <a:r>
              <a:rPr sz="1147" baseline="-25000" b="0">
                <a:solidFill>
                  <a:srgbClr val="1B2238"/>
                </a:solidFill>
                <a:latin typeface="Cambria Math"/>
              </a:rPr>
              <a:t>i,j</a:t>
            </a:r>
            <a:r>
              <a:rPr sz="1850" b="0">
                <a:solidFill>
                  <a:srgbClr val="1B2238"/>
                </a:solidFill>
                <a:latin typeface="Cambria Math"/>
              </a:rPr>
              <a:t> x</a:t>
            </a:r>
            <a:r>
              <a:rPr sz="1147" baseline="-25000" b="0">
                <a:solidFill>
                  <a:srgbClr val="1B2238"/>
                </a:solidFill>
                <a:latin typeface="Cambria Math"/>
              </a:rPr>
              <a:t>i,j,t</a:t>
            </a:r>
            <a:r>
              <a:rPr sz="1850" b="0">
                <a:solidFill>
                  <a:srgbClr val="1B2238"/>
                </a:solidFill>
                <a:latin typeface="Cambria Math"/>
              </a:rPr>
              <a:t>·(1 − Σ</a:t>
            </a:r>
            <a:r>
              <a:rPr sz="1147" baseline="-25000" b="0">
                <a:solidFill>
                  <a:srgbClr val="1B2238"/>
                </a:solidFill>
                <a:latin typeface="Cambria Math"/>
              </a:rPr>
              <a:t>(k,l)∈N(i,j)</a:t>
            </a:r>
            <a:r>
              <a:rPr sz="1850" b="0">
                <a:solidFill>
                  <a:srgbClr val="1B2238"/>
                </a:solidFill>
                <a:latin typeface="Cambria Math"/>
              </a:rPr>
              <a:t> x</a:t>
            </a:r>
            <a:r>
              <a:rPr sz="1147" baseline="-25000" b="0">
                <a:solidFill>
                  <a:srgbClr val="1B2238"/>
                </a:solidFill>
                <a:latin typeface="Cambria Math"/>
              </a:rPr>
              <a:t>k,l,t+1</a:t>
            </a:r>
            <a:r>
              <a:rPr sz="1850" b="0">
                <a:solidFill>
                  <a:srgbClr val="1B2238"/>
                </a:solidFill>
                <a:latin typeface="Cambria Math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0789920" cy="-1337799569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N(i,j) is the 4-connectivity neighbor set of cell (i,j) — the most computationally expensive penalty, best precomputed into a neighbor dictionary.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Obstacle avoidance is handled structurally here, not as its own penalty: obstacle cells are simply removed from every N(i,j), so a move into one already breaks adjacency.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Same trick applies to graphs — unconnected nodes are never in each other's neighbor set, so no separate obstacle logic is needed there either.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CORE PENALTY ·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Start &amp; goal conditions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10332720" cy="11887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>
                <a:solidFill>
                  <a:srgbClr val="1B2238"/>
                </a:solidFill>
                <a:latin typeface="Cambria Math"/>
              </a:rPr>
              <a:t>P</a:t>
            </a:r>
            <a:r>
              <a:rPr sz="1364" baseline="-25000">
                <a:solidFill>
                  <a:srgbClr val="1B2238"/>
                </a:solidFill>
                <a:latin typeface="Cambria Math"/>
              </a:rPr>
              <a:t>start</a:t>
            </a:r>
            <a:r>
              <a:rPr sz="2200">
                <a:solidFill>
                  <a:srgbClr val="1B2238"/>
                </a:solidFill>
                <a:latin typeface="Cambria Math"/>
              </a:rPr>
              <a:t> = −K</a:t>
            </a:r>
            <a:r>
              <a:rPr sz="1364" baseline="-25000">
                <a:solidFill>
                  <a:srgbClr val="1B2238"/>
                </a:solidFill>
                <a:latin typeface="Cambria Math"/>
              </a:rPr>
              <a:t>start</a:t>
            </a:r>
            <a:r>
              <a:rPr sz="2200">
                <a:solidFill>
                  <a:srgbClr val="1B2238"/>
                </a:solidFill>
                <a:latin typeface="Cambria Math"/>
              </a:rPr>
              <a:t> · x</a:t>
            </a:r>
            <a:r>
              <a:rPr sz="1364" baseline="-25000">
                <a:solidFill>
                  <a:srgbClr val="1B2238"/>
                </a:solidFill>
                <a:latin typeface="Cambria Math"/>
              </a:rPr>
              <a:t>si,sj,0</a:t>
            </a:r>
          </a:p>
          <a:p>
            <a:pPr algn="ctr">
              <a:lnSpc>
                <a:spcPct val="125000"/>
              </a:lnSpc>
            </a:pPr>
            <a:r>
              <a:rPr sz="2200">
                <a:solidFill>
                  <a:srgbClr val="1B2238"/>
                </a:solidFill>
                <a:latin typeface="Cambria Math"/>
              </a:rPr>
              <a:t>P</a:t>
            </a:r>
            <a:r>
              <a:rPr sz="1364" baseline="-25000">
                <a:solidFill>
                  <a:srgbClr val="1B2238"/>
                </a:solidFill>
                <a:latin typeface="Cambria Math"/>
              </a:rPr>
              <a:t>goal</a:t>
            </a:r>
            <a:r>
              <a:rPr sz="2200">
                <a:solidFill>
                  <a:srgbClr val="1B2238"/>
                </a:solidFill>
                <a:latin typeface="Cambria Math"/>
              </a:rPr>
              <a:t> = −K</a:t>
            </a:r>
            <a:r>
              <a:rPr sz="1364" baseline="-25000">
                <a:solidFill>
                  <a:srgbClr val="1B2238"/>
                </a:solidFill>
                <a:latin typeface="Cambria Math"/>
              </a:rPr>
              <a:t>goal</a:t>
            </a:r>
            <a:r>
              <a:rPr sz="2200">
                <a:solidFill>
                  <a:srgbClr val="1B2238"/>
                </a:solidFill>
                <a:latin typeface="Cambria Math"/>
              </a:rPr>
              <a:t> · x</a:t>
            </a:r>
            <a:r>
              <a:rPr sz="1364" baseline="-25000">
                <a:solidFill>
                  <a:srgbClr val="1B2238"/>
                </a:solidFill>
                <a:latin typeface="Cambria Math"/>
              </a:rPr>
              <a:t>ei,ej,T</a:t>
            </a:r>
            <a:r>
              <a:rPr sz="2200">
                <a:solidFill>
                  <a:srgbClr val="1B2238"/>
                </a:solidFill>
                <a:latin typeface="Cambria Math"/>
              </a:rPr>
              <a:t>   (naïve, last-step-only 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0789920" cy="-1337799569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Both reduce from a squared form (1 − x)² to a linear reward once x² = x is used for binary variables — same simplification as one-hotness.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The naïve goal penalty only rewards reaching the goal at the exact final timestep, which assumes you already know T. In production this is replaced by the late-time weighted version (next section) — same idea, applied at every step with growing weight.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Goal cannot be rewarded at t = 0, or it directly conflicts with the start-condition penalty.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CORE PENALTY ·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Goal lock — stay once you arrive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1033272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200" b="0">
                <a:solidFill>
                  <a:srgbClr val="1B2238"/>
                </a:solidFill>
                <a:latin typeface="Cambria Math"/>
              </a:rPr>
              <a:t>P</a:t>
            </a:r>
            <a:r>
              <a:rPr sz="1364" baseline="-25000" b="0">
                <a:solidFill>
                  <a:srgbClr val="1B2238"/>
                </a:solidFill>
                <a:latin typeface="Cambria Math"/>
              </a:rPr>
              <a:t>lock</a:t>
            </a:r>
            <a:r>
              <a:rPr sz="2200" b="0">
                <a:solidFill>
                  <a:srgbClr val="1B2238"/>
                </a:solidFill>
                <a:latin typeface="Cambria Math"/>
              </a:rPr>
              <a:t> = K</a:t>
            </a:r>
            <a:r>
              <a:rPr sz="1364" baseline="-25000" b="0">
                <a:solidFill>
                  <a:srgbClr val="1B2238"/>
                </a:solidFill>
                <a:latin typeface="Cambria Math"/>
              </a:rPr>
              <a:t>lock</a:t>
            </a:r>
            <a:r>
              <a:rPr sz="2200" b="0">
                <a:solidFill>
                  <a:srgbClr val="1B2238"/>
                </a:solidFill>
                <a:latin typeface="Cambria Math"/>
              </a:rPr>
              <a:t> · Σ</a:t>
            </a:r>
            <a:r>
              <a:rPr sz="1364" baseline="-25000" b="0">
                <a:solidFill>
                  <a:srgbClr val="1B2238"/>
                </a:solidFill>
                <a:latin typeface="Cambria Math"/>
              </a:rPr>
              <a:t>t=0</a:t>
            </a:r>
            <a:r>
              <a:rPr sz="1364" baseline="30000" b="0">
                <a:solidFill>
                  <a:srgbClr val="1B2238"/>
                </a:solidFill>
                <a:latin typeface="Cambria Math"/>
              </a:rPr>
              <a:t>T−2</a:t>
            </a:r>
            <a:r>
              <a:rPr sz="2200" b="0">
                <a:solidFill>
                  <a:srgbClr val="1B2238"/>
                </a:solidFill>
                <a:latin typeface="Cambria Math"/>
              </a:rPr>
              <a:t> x</a:t>
            </a:r>
            <a:r>
              <a:rPr sz="1364" baseline="-25000" b="0">
                <a:solidFill>
                  <a:srgbClr val="1B2238"/>
                </a:solidFill>
                <a:latin typeface="Cambria Math"/>
              </a:rPr>
              <a:t>g,t</a:t>
            </a:r>
            <a:r>
              <a:rPr sz="2200" b="0">
                <a:solidFill>
                  <a:srgbClr val="1B2238"/>
                </a:solidFill>
                <a:latin typeface="Cambria Math"/>
              </a:rPr>
              <a:t>·(1 − x</a:t>
            </a:r>
            <a:r>
              <a:rPr sz="1364" baseline="-25000" b="0">
                <a:solidFill>
                  <a:srgbClr val="1B2238"/>
                </a:solidFill>
                <a:latin typeface="Cambria Math"/>
              </a:rPr>
              <a:t>g,t+1</a:t>
            </a:r>
            <a:r>
              <a:rPr sz="2200" b="0">
                <a:solidFill>
                  <a:srgbClr val="1B2238"/>
                </a:solidFill>
                <a:latin typeface="Cambria Math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0789920" cy="-1337799569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Classical planners never worry about this — they don't operate on fixed timesteps. QUBO does, and it doesn't inherently know the right time window, so it tends to keep moving past the goal unless told to stop.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Not treated as essential: extra post-goal moves can simply be clipped from the decoded path instead. In practice this penalty can be dropped without much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9B5DE0"/>
                </a:solidFill>
                <a:latin typeface="Cambria Math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6FB"/>
                </a:solidFill>
                <a:latin typeface="Calibri"/>
              </a:rPr>
              <a:t>Extra Penalties &amp; Heuristics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Not required for a valid path, but required for a good one — these fix teleportation, backtracking, and windowed goal-seeking.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Extra Penalties &amp; Heuristics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EXTRA PENALTY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Backtracking — punish revisiting cells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1033272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900" b="0">
                <a:solidFill>
                  <a:srgbClr val="1B2238"/>
                </a:solidFill>
                <a:latin typeface="Cambria Math"/>
              </a:rPr>
              <a:t>P</a:t>
            </a:r>
            <a:r>
              <a:rPr sz="1178" baseline="-25000" b="0">
                <a:solidFill>
                  <a:srgbClr val="1B2238"/>
                </a:solidFill>
                <a:latin typeface="Cambria Math"/>
              </a:rPr>
              <a:t>bt</a:t>
            </a:r>
            <a:r>
              <a:rPr sz="1900" b="0">
                <a:solidFill>
                  <a:srgbClr val="1B2238"/>
                </a:solidFill>
                <a:latin typeface="Cambria Math"/>
              </a:rPr>
              <a:t> = K</a:t>
            </a:r>
            <a:r>
              <a:rPr sz="1178" baseline="-25000" b="0">
                <a:solidFill>
                  <a:srgbClr val="1B2238"/>
                </a:solidFill>
                <a:latin typeface="Cambria Math"/>
              </a:rPr>
              <a:t>bt</a:t>
            </a:r>
            <a:r>
              <a:rPr sz="1900" b="0">
                <a:solidFill>
                  <a:srgbClr val="1B2238"/>
                </a:solidFill>
                <a:latin typeface="Cambria Math"/>
              </a:rPr>
              <a:t> · Σ</a:t>
            </a:r>
            <a:r>
              <a:rPr sz="1178" baseline="-25000" b="0">
                <a:solidFill>
                  <a:srgbClr val="1B2238"/>
                </a:solidFill>
                <a:latin typeface="Cambria Math"/>
              </a:rPr>
              <a:t>(i,j)≠goal</a:t>
            </a:r>
            <a:r>
              <a:rPr sz="1900" b="0">
                <a:solidFill>
                  <a:srgbClr val="1B2238"/>
                </a:solidFill>
                <a:latin typeface="Cambria Math"/>
              </a:rPr>
              <a:t> Σ</a:t>
            </a:r>
            <a:r>
              <a:rPr sz="1178" baseline="-25000" b="0">
                <a:solidFill>
                  <a:srgbClr val="1B2238"/>
                </a:solidFill>
                <a:latin typeface="Cambria Math"/>
              </a:rPr>
              <a:t>t₁&lt;t₂</a:t>
            </a:r>
            <a:r>
              <a:rPr sz="1900" b="0">
                <a:solidFill>
                  <a:srgbClr val="1B2238"/>
                </a:solidFill>
                <a:latin typeface="Cambria Math"/>
              </a:rPr>
              <a:t> x</a:t>
            </a:r>
            <a:r>
              <a:rPr sz="1178" baseline="-25000" b="0">
                <a:solidFill>
                  <a:srgbClr val="1B2238"/>
                </a:solidFill>
                <a:latin typeface="Cambria Math"/>
              </a:rPr>
              <a:t>i,j,t₁</a:t>
            </a:r>
            <a:r>
              <a:rPr sz="1900" b="0">
                <a:solidFill>
                  <a:srgbClr val="1B2238"/>
                </a:solidFill>
                <a:latin typeface="Cambria Math"/>
              </a:rPr>
              <a:t>·x</a:t>
            </a:r>
            <a:r>
              <a:rPr sz="1178" baseline="-25000" b="0">
                <a:solidFill>
                  <a:srgbClr val="1B2238"/>
                </a:solidFill>
                <a:latin typeface="Cambria Math"/>
              </a:rPr>
              <a:t>i,j,t₂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0789920" cy="-1337799569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A global constraint (not per-timestep): penalizes any pair t₁ &lt; t₂ where the agent occupies the same non-goal cell twice.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A backtracking solution is, by construction, never optimal — this steers the solver toward the direct path and away from wandering near the start or goal.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Explicitly excludes the goal cell, or it would conflict with the goal-lock penalty above.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EXTRA PENALTY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Teleportation penalty &amp; distance heuristics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789920" cy="1463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Teleportation penalty (K_tp): penalizes reaching the goal earlier than physically possible, using the Manhattan/Euclidean lower bound on step count — balances the goal penalty and meaningfully improves results in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B5DE0"/>
                </a:solidFill>
                <a:latin typeface="Calibri"/>
              </a:rPr>
              <a:t>Grid — Manhattan 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5303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000" b="0">
                <a:solidFill>
                  <a:srgbClr val="1B2238"/>
                </a:solidFill>
                <a:latin typeface="Cambria Math"/>
              </a:rPr>
              <a:t>d = |x₂ − x₁| + |y₂ − y₁|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0175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B5DE0"/>
                </a:solidFill>
                <a:latin typeface="Calibri"/>
              </a:rPr>
              <a:t>Graph — Euclidean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383280"/>
            <a:ext cx="5303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/>
            <a:r>
              <a:rPr sz="2000" b="0">
                <a:solidFill>
                  <a:srgbClr val="1B2238"/>
                </a:solidFill>
                <a:latin typeface="Cambria Math"/>
              </a:rPr>
              <a:t>d = √((x − x</a:t>
            </a:r>
            <a:r>
              <a:rPr sz="1240" baseline="-25000" b="0">
                <a:solidFill>
                  <a:srgbClr val="1B2238"/>
                </a:solidFill>
                <a:latin typeface="Cambria Math"/>
              </a:rPr>
              <a:t>goal</a:t>
            </a:r>
            <a:r>
              <a:rPr sz="2000" b="0">
                <a:solidFill>
                  <a:srgbClr val="1B2238"/>
                </a:solidFill>
                <a:latin typeface="Cambria Math"/>
              </a:rPr>
              <a:t>)² + (y − y</a:t>
            </a:r>
            <a:r>
              <a:rPr sz="1240" baseline="-25000" b="0">
                <a:solidFill>
                  <a:srgbClr val="1B2238"/>
                </a:solidFill>
                <a:latin typeface="Cambria Math"/>
              </a:rPr>
              <a:t>goal</a:t>
            </a:r>
            <a:r>
              <a:rPr sz="2000" b="0">
                <a:solidFill>
                  <a:srgbClr val="1B2238"/>
                </a:solidFill>
                <a:latin typeface="Cambria Math"/>
              </a:rPr>
              <a:t>)²)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1078992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Any valid path needs at least the Manhattan/Euclidean number of steps — fewer means the answer is invalid, more can be encouraged to shrink toward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Extra penalties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EXTRA PENALTY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Windowed goal-seeking: late-time &amp; approximation penalties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30352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B2238"/>
                </a:solidFill>
                <a:latin typeface="Calibri"/>
              </a:rPr>
              <a:t>Late-time goal penalty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00" b="0" i="0">
                <a:solidFill>
                  <a:srgbClr val="1B2238"/>
                </a:solidFill>
                <a:latin typeface="Calibri"/>
              </a:rPr>
              <a:t>Weight on reaching the goal increases every timestep (up to ~2×) instead of firing only at the last step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00" b="0" i="0">
                <a:solidFill>
                  <a:srgbClr val="1B2238"/>
                </a:solidFill>
                <a:latin typeface="Calibri"/>
              </a:rPr>
              <a:t>Fixes the constant-time approach's teleportation problem and the early-time approach's over-eagerness — empirically the most effective of the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37360"/>
            <a:ext cx="502920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00" b="1" i="0">
                <a:solidFill>
                  <a:srgbClr val="1B2238"/>
                </a:solidFill>
                <a:latin typeface="Calibri"/>
              </a:rPr>
              <a:t>Approximation penalty (K_goal_approx)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00" b="0" i="0">
                <a:solidFill>
                  <a:srgbClr val="1B2238"/>
                </a:solidFill>
                <a:latin typeface="Calibri"/>
              </a:rPr>
              <a:t>Used inside a time window that can't reach the goal yet — rewards approaching it (shrinking Manhattan/Euclidean distance) instead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00" b="0" i="0">
                <a:solidFill>
                  <a:srgbClr val="1B2238"/>
                </a:solidFill>
                <a:latin typeface="Calibri"/>
              </a:rPr>
              <a:t>Paired with an obstacle potential field so the solver favors open space, not just “closer” cells — also spreads multi-robot traffic away from clutter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00" b="0" i="0">
                <a:solidFill>
                  <a:srgbClr val="1B2238"/>
                </a:solidFill>
                <a:latin typeface="Calibri"/>
              </a:rPr>
              <a:t>Must stay weak relative to backtracking, or it fights the windows that already tried and failed to reduce 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Extra penalties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9B5DE0"/>
                </a:solidFill>
                <a:latin typeface="Cambria Math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6FB"/>
                </a:solidFill>
                <a:latin typeface="Calibri"/>
              </a:rPr>
              <a:t>Multi-Robot Collision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Crash avoidance is in the paper. Swap-collision isn't — it's flagged there as a known limitation, but it's already implemented.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Multi-Robot Collision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COLLISION · IN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Crash penalty — same cell, same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0789920" cy="137160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92808"/>
            <a:ext cx="10332720" cy="10058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650" b="0">
                <a:solidFill>
                  <a:srgbClr val="1B2238"/>
                </a:solidFill>
                <a:latin typeface="Cambria Math"/>
              </a:rPr>
              <a:t>P</a:t>
            </a:r>
            <a:r>
              <a:rPr sz="1023" baseline="-25000" b="0">
                <a:solidFill>
                  <a:srgbClr val="1B2238"/>
                </a:solidFill>
                <a:latin typeface="Cambria Math"/>
              </a:rPr>
              <a:t>crash</a:t>
            </a:r>
            <a:r>
              <a:rPr sz="1650" b="0">
                <a:solidFill>
                  <a:srgbClr val="1B2238"/>
                </a:solidFill>
                <a:latin typeface="Cambria Math"/>
              </a:rPr>
              <a:t> = K</a:t>
            </a:r>
            <a:r>
              <a:rPr sz="1023" baseline="-25000" b="0">
                <a:solidFill>
                  <a:srgbClr val="1B2238"/>
                </a:solidFill>
                <a:latin typeface="Cambria Math"/>
              </a:rPr>
              <a:t>crash</a:t>
            </a:r>
            <a:r>
              <a:rPr sz="1650" b="0">
                <a:solidFill>
                  <a:srgbClr val="1B2238"/>
                </a:solidFill>
                <a:latin typeface="Cambria Math"/>
              </a:rPr>
              <a:t> · Σ</a:t>
            </a:r>
            <a:r>
              <a:rPr sz="1650" b="0">
                <a:solidFill>
                  <a:srgbClr val="1B2238"/>
                </a:solidFill>
                <a:latin typeface="Cambria Math"/>
              </a:rPr>
              <a:t>t Σ</a:t>
            </a:r>
            <a:r>
              <a:rPr sz="1023" baseline="-25000" b="0">
                <a:solidFill>
                  <a:srgbClr val="1B2238"/>
                </a:solidFill>
                <a:latin typeface="Cambria Math"/>
              </a:rPr>
              <a:t>r₁&lt;r₂</a:t>
            </a:r>
            <a:r>
              <a:rPr sz="1650" b="0">
                <a:solidFill>
                  <a:srgbClr val="1B2238"/>
                </a:solidFill>
                <a:latin typeface="Cambria Math"/>
              </a:rPr>
              <a:t> Σ</a:t>
            </a:r>
            <a:r>
              <a:rPr sz="1023" baseline="-25000" b="0">
                <a:solidFill>
                  <a:srgbClr val="1B2238"/>
                </a:solidFill>
                <a:latin typeface="Cambria Math"/>
              </a:rPr>
              <a:t>(i,j)∈shared</a:t>
            </a:r>
            <a:r>
              <a:rPr sz="1650" b="0">
                <a:solidFill>
                  <a:srgbClr val="1B2238"/>
                </a:solidFill>
                <a:latin typeface="Cambria Math"/>
              </a:rPr>
              <a:t> x</a:t>
            </a:r>
            <a:r>
              <a:rPr sz="1023" baseline="-25000" b="0">
                <a:solidFill>
                  <a:srgbClr val="1B2238"/>
                </a:solidFill>
                <a:latin typeface="Cambria Math"/>
              </a:rPr>
              <a:t>r₁,i,j,t</a:t>
            </a:r>
            <a:r>
              <a:rPr sz="1650" b="0">
                <a:solidFill>
                  <a:srgbClr val="1B2238"/>
                </a:solidFill>
                <a:latin typeface="Cambria Math"/>
              </a:rPr>
              <a:t>·x</a:t>
            </a:r>
            <a:r>
              <a:rPr sz="1023" baseline="-25000" b="0">
                <a:solidFill>
                  <a:srgbClr val="1B2238"/>
                </a:solidFill>
                <a:latin typeface="Cambria Math"/>
              </a:rPr>
              <a:t>r₂,i,j,t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0789920" cy="-1337799569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Only evaluated over cells both robots can actually reach at time t (shared_cells) — keeps the penalty term count small instead of scanning the whole grid.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Rule of thumb from the config: K_crash must stay ≤ K_adj, or the solver has no incentive to prefer a legal move over sitting through a collision.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COLLISION · NOT IN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Swap-collision penalty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10789920" cy="1417320"/>
          </a:xfrm>
          <a:prstGeom prst="roundRect">
            <a:avLst>
              <a:gd name="adj" fmla="val 6000"/>
            </a:avLst>
          </a:prstGeom>
          <a:solidFill>
            <a:srgbClr val="F6F7FB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332720" cy="12801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50">
                <a:solidFill>
                  <a:srgbClr val="1B2238"/>
                </a:solidFill>
                <a:latin typeface="Cambria Math"/>
              </a:rPr>
              <a:t>P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swap</a:t>
            </a:r>
            <a:r>
              <a:rPr sz="1750">
                <a:solidFill>
                  <a:srgbClr val="1B2238"/>
                </a:solidFill>
                <a:latin typeface="Cambria Math"/>
              </a:rPr>
              <a:t> = K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crash</a:t>
            </a:r>
            <a:r>
              <a:rPr sz="1750">
                <a:solidFill>
                  <a:srgbClr val="1B2238"/>
                </a:solidFill>
                <a:latin typeface="Cambria Math"/>
              </a:rPr>
              <a:t>·x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r₁,t</a:t>
            </a:r>
            <a:r>
              <a:rPr sz="1750">
                <a:solidFill>
                  <a:srgbClr val="1B2238"/>
                </a:solidFill>
                <a:latin typeface="Cambria Math"/>
              </a:rPr>
              <a:t>x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r₂,t</a:t>
            </a:r>
            <a:r>
              <a:rPr sz="1750">
                <a:solidFill>
                  <a:srgbClr val="1B2238"/>
                </a:solidFill>
                <a:latin typeface="Cambria Math"/>
              </a:rPr>
              <a:t>  +  K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swap</a:t>
            </a:r>
            <a:r>
              <a:rPr sz="1750">
                <a:solidFill>
                  <a:srgbClr val="1B2238"/>
                </a:solidFill>
                <a:latin typeface="Cambria Math"/>
              </a:rPr>
              <a:t>·(x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r₁,t+1</a:t>
            </a:r>
            <a:r>
              <a:rPr sz="1750">
                <a:solidFill>
                  <a:srgbClr val="1B2238"/>
                </a:solidFill>
                <a:latin typeface="Cambria Math"/>
              </a:rPr>
              <a:t>x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r₂,t</a:t>
            </a:r>
            <a:r>
              <a:rPr sz="1750">
                <a:solidFill>
                  <a:srgbClr val="1B2238"/>
                </a:solidFill>
                <a:latin typeface="Cambria Math"/>
              </a:rPr>
              <a:t> + x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r₁,t</a:t>
            </a:r>
            <a:r>
              <a:rPr sz="1750">
                <a:solidFill>
                  <a:srgbClr val="1B2238"/>
                </a:solidFill>
                <a:latin typeface="Cambria Math"/>
              </a:rPr>
              <a:t>x</a:t>
            </a:r>
            <a:r>
              <a:rPr sz="1085" baseline="-25000">
                <a:solidFill>
                  <a:srgbClr val="1B2238"/>
                </a:solidFill>
                <a:latin typeface="Cambria Math"/>
              </a:rPr>
              <a:t>r₂,t+1</a:t>
            </a:r>
            <a:r>
              <a:rPr sz="1750">
                <a:solidFill>
                  <a:srgbClr val="1B2238"/>
                </a:solidFill>
                <a:latin typeface="Cambria Math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10789920" cy="3200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The paper's own Limitations section calls swap-collision out as unsolved: an exact swap detector is quartic (degree 4), not quadratic — QUBO's native degree.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Implemented anyway (QUBOBuilder.apply_swap_penalty / GraphQUBO equivalent) as a pairwise quadratic approximation instead of an exact quartic term: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0">
                <a:solidFill>
                  <a:srgbClr val="1B2238"/>
                </a:solidFill>
                <a:latin typeface="Calibri"/>
              </a:rPr>
              <a:t>same-cell/same-time term reuses K_crash unchanged, so base crash protection isn't diluted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250" b="0" i="0">
                <a:solidFill>
                  <a:srgbClr val="1B2238"/>
                </a:solidFill>
                <a:latin typeface="Calibri"/>
              </a:rPr>
              <a:t>two cross-time terms catch robot 1 arriving where robot 2 just was, and vice versa — the actual swap signature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Known over-constraint: the cross-time terms also fire when one robot simply follows another into a just-vacated cell — not a real collision. K_swap is the knob to relax if that false-positive cost outweighs the benefit.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When K_swap is active it replaces the plain crash penalty entirely (build() drops “crash” from the constraint list) so the same-time term is never double-counted.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Swap-collision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9B5DE0"/>
                </a:solidFill>
                <a:latin typeface="Cambria Math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6FB"/>
                </a:solidFill>
                <a:latin typeface="Calibri"/>
              </a:rPr>
              <a:t>Weight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Every K constant above is empirical. There's no closed-form optimum — here's the methodology and the current production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Weight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Why tuning is empirical, not derived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78992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B2238"/>
                </a:solidFill>
                <a:latin typeface="Calibri"/>
              </a:rPr>
              <a:t>Unlike big-M in a classical ILP→QUBO conversion — which has a provable bound formula — there is no mathematically “correct” weight for a penalty that was authored, not derived.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B2238"/>
                </a:solidFill>
                <a:latin typeface="Calibri"/>
              </a:rPr>
              <a:t>Tuning discipline: fit weights against the most general / least constrained scenario first (the open map, fewest active constraints). Fitting to a constrained scenario instead tends to overfit — the solver has more freedom in the general case, so weights that hold there generalize; ones that only work under heavy constraints usually don't.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B2238"/>
                </a:solidFill>
                <a:latin typeface="Calibri"/>
              </a:rPr>
              <a:t>Normalization scale is the one global knob that keeps weights problem-size-independent: you tune a single number instead of re-deriving every K per map size.</a:t>
            </a:r>
          </a:p>
          <a:p>
            <a:pPr algn="l" marL="457200" indent="-201168">
              <a:lnSpc>
                <a:spcPct val="108000"/>
              </a:lnSpc>
              <a:spcAft>
                <a:spcPts val="1000"/>
              </a:spcAft>
              <a:buFont typeface="Arial"/>
              <a:buChar char="–"/>
            </a:pPr>
            <a:r>
              <a:rPr sz="1300" b="0" i="0">
                <a:solidFill>
                  <a:srgbClr val="1B2238"/>
                </a:solidFill>
                <a:latin typeface="Calibri"/>
              </a:rPr>
              <a:t>PennyLane / QAOA: scale 2.0 below ~60–100 variables, scale 1.0 above</a:t>
            </a:r>
          </a:p>
          <a:p>
            <a:pPr algn="l" marL="457200" indent="-201168">
              <a:lnSpc>
                <a:spcPct val="108000"/>
              </a:lnSpc>
              <a:spcAft>
                <a:spcPts val="1000"/>
              </a:spcAft>
              <a:buFont typeface="Arial"/>
              <a:buChar char="–"/>
            </a:pPr>
            <a:r>
              <a:rPr sz="1300" b="0" i="0">
                <a:solidFill>
                  <a:srgbClr val="1B2238"/>
                </a:solidFill>
                <a:latin typeface="Calibri"/>
              </a:rPr>
              <a:t>D-Wave annealing: benefits from a higher scale (5.0) — fewer reads needed for the same or better accuracy</a:t>
            </a:r>
          </a:p>
          <a:p>
            <a:pPr algn="l" marL="201168" indent="-201168">
              <a:lnSpc>
                <a:spcPct val="108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>
                <a:solidFill>
                  <a:srgbClr val="1B2238"/>
                </a:solidFill>
                <a:latin typeface="Calibri"/>
              </a:rPr>
              <a:t>Combined with the time-window approach, this means the main remaining tuning surface is just “how many timesteps per window,” not per-scenario penalty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Weight 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Current production penalty sets (config/config.yaml)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0789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4F6FB"/>
                          </a:solidFill>
                          <a:latin typeface="Calibri"/>
                        </a:rPr>
                        <a:t>Penalty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4F6FB"/>
                          </a:solidFill>
                          <a:latin typeface="Calibri"/>
                        </a:rPr>
                        <a:t>crash (default)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4F6FB"/>
                          </a:solidFill>
                          <a:latin typeface="Calibri"/>
                        </a:rPr>
                        <a:t>swap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K_hot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K_adj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K_start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K_goal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K_lock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K_bt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K_tp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K_goal_approx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K_crash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K_swap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libri"/>
                        </a:rPr>
                        <a:t>3  (kept ≤ K_crash to avoid over-constraint)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C647A"/>
                </a:solidFill>
                <a:latin typeface="Calibri"/>
              </a:rPr>
              <a:t>“swap” replaces “crash” entirely when active — not summed with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Weight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9B5DE0"/>
                </a:solidFill>
                <a:latin typeface="Cambria Math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6FB"/>
                </a:solidFill>
                <a:latin typeface="Calibri"/>
              </a:rPr>
              <a:t>Binary vs. One-Hot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Explored on explore/binary-encoding, never merged. A negative result — documented precisely enough that it doesn't need re-deriving.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Binary vs. 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ENCODING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The theoretical appeal: fewer qubits per cell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78992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One-hot uses N variables per (robot, timestep) — one bit per grid cell / graph node.</a:t>
            </a:r>
          </a:p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Binary needs only B = ⌈log₂N⌉ bits to represent the same N positions — exponentially fewer.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200400"/>
          <a:ext cx="107899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4F6FB"/>
                          </a:solidFill>
                          <a:latin typeface="Calibri"/>
                        </a:rPr>
                        <a:t>N (cells)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4F6FB"/>
                          </a:solidFill>
                          <a:latin typeface="Calibri"/>
                        </a:rPr>
                        <a:t>one-hot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4F6FB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4F6FB"/>
                          </a:solidFill>
                          <a:latin typeface="Calibri"/>
                        </a:rPr>
                        <a:t>binary + exact-match ancilla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5C5C"/>
                          </a:solidFill>
                          <a:latin typeface="Cambria Math"/>
                        </a:rPr>
                        <a:t>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9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9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4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5C5C"/>
                          </a:solidFill>
                          <a:latin typeface="Cambria Math"/>
                        </a:rPr>
                        <a:t>13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16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16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4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5C5C"/>
                          </a:solidFill>
                          <a:latin typeface="Cambria Math"/>
                        </a:rPr>
                        <a:t>20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25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25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5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5C5C"/>
                          </a:solidFill>
                          <a:latin typeface="Cambria Math"/>
                        </a:rPr>
                        <a:t>30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36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36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238"/>
                          </a:solidFill>
                          <a:latin typeface="Cambria Math"/>
                        </a:rPr>
                        <a:t>6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E85C5C"/>
                          </a:solidFill>
                          <a:latin typeface="Cambria Math"/>
                        </a:rPr>
                        <a:t>42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3212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47A"/>
                </a:solidFill>
                <a:latin typeface="Calibri"/>
              </a:rPr>
              <a:t>A genuine fix needs an exact-match ancilla per real “from” cell to detect adjacency correctly — always strictly more variables than one-hot (B + N &gt; N). The savings are illusory once adjacency is handled honestly.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Binary vs. one-hot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ENCODING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Why it fails: adjacency has no closed 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78992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One-hot's adjacency term reads each bit independently (“is this specific cell active”). Binary needs to read the combination of bits meaningfully differently depending on which real cell they encode — the same shared (2B,2B) coefficient block gets tiled across every one of the N possible “from” cells.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That's a degrees-of-freedom mismatch: only O(B²) = O(log²N) free coefficients must simultaneously satisfy the ranking constraints for all N cells at once.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Proven, not approximated: a max-margin LP fit (scipy linprog, highs) finds the optimal separating margin is exactly 0 for every grid ≥ 3×4, including exact powers of 2. linprog solves this exactly — margin = 0 means provably no separator exists, not “wasn't found.” An SDP relaxation can't do better either: there's no non-convexity here to relax against.</a:t>
            </a:r>
          </a:p>
          <a:p>
            <a:pPr algn="l" marL="201168" indent="-201168">
              <a:lnSpc>
                <a:spcPct val="108000"/>
              </a:lnSpc>
              <a:spcAft>
                <a:spcPts val="900"/>
              </a:spcAft>
              <a:buFont typeface="Arial"/>
              <a:buChar char="•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A refinement (staying in place made legal + row/column encoded in disjoint power-of-2 bit fields instead of i·N+j) does produce a real positive margin — but only for small, open grids, and it degrades fast with size and obstacles.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Binary vs. one-hot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ENCODING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The refinement's actual 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737360"/>
          <a:ext cx="10789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560320"/>
                <a:gridCol w="256032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4F6FB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4F6FB"/>
                          </a:solidFill>
                          <a:latin typeface="Calibri"/>
                        </a:rPr>
                        <a:t>baseline margin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4F6FB"/>
                          </a:solidFill>
                          <a:latin typeface="Calibri"/>
                        </a:rPr>
                        <a:t>candidate margin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4F6FB"/>
                          </a:solidFill>
                          <a:latin typeface="Calibri"/>
                        </a:rPr>
                        <a:t>viable on</a:t>
                      </a:r>
                    </a:p>
                  </a:txBody>
                  <a:tcPr>
                    <a:solidFill>
                      <a:srgbClr val="0A11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3×3, 0 obstacles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0.333 (6.7%)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0.625 (12.5%)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SA + hardware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5×5, 0 obstacles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0.313 (6.3%)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SA + hardware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5×5, 3 obstacles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0.033 (0.65%)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SA only</a:t>
                      </a:r>
                    </a:p>
                  </a:txBody>
                  <a:tcPr>
                    <a:solidFill>
                      <a:srgbClr val="F4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10×10, 0 obstacles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0.096 (1.9%)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SA + hardware (marginal)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2238"/>
                          </a:solidFill>
                          <a:latin typeface="Calibri"/>
                        </a:rPr>
                        <a:t>obs10x10_easy / hard</a:t>
                      </a:r>
                    </a:p>
                  </a:txBody>
                  <a:tcPr>
                    <a:solidFill>
                      <a:srgbClr val="F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5C5C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>
                    <a:solidFill>
                      <a:srgbClr val="F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5C5C"/>
                          </a:solidFill>
                          <a:latin typeface="Calibri"/>
                        </a:rPr>
                        <a:t>fails</a:t>
                      </a:r>
                    </a:p>
                  </a:txBody>
                  <a:tcPr>
                    <a:solidFill>
                      <a:srgbClr val="FCEC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E85C5C"/>
                          </a:solidFill>
                          <a:latin typeface="Calibri"/>
                        </a:rPr>
                        <a:t>neither</a:t>
                      </a:r>
                    </a:p>
                  </a:txBody>
                  <a:tcPr>
                    <a:solidFill>
                      <a:srgbClr val="FC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50×50+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not computable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22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6E9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166360"/>
            <a:ext cx="1078992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5C647A"/>
                </a:solidFill>
                <a:latin typeface="Calibri"/>
              </a:rPr>
              <a:t>obs10x10_easy / obs10x10_hard are the project's actual CLI benchmark maps (named in CLAUDE.md) — the refinement doesn't rescue them. Obstacles hurt disproportionately: a 5×5 grid's margin drops roughly 10× going from 0 to 4 obstacles.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Binary vs. one-hot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ENCODING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Verdict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10789920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00" b="1" i="0">
                <a:solidFill>
                  <a:srgbClr val="E85C5C"/>
                </a:solidFill>
                <a:latin typeface="Calibri"/>
              </a:rPr>
              <a:t>Not usable for real MAPF maps.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B2238"/>
                </a:solidFill>
                <a:latin typeface="Calibri"/>
              </a:rPr>
              <a:t>A genuine fix would need more variables than one-hot already uses (B + N ancilla-based detector &gt; N), not fewer — the entire premise of switching encodings inverts.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B2238"/>
                </a:solidFill>
                <a:latin typeface="Calibri"/>
              </a:rPr>
              <a:t>One-hot's own qubit-reduction levers — BFS window pruning, var_limit, robot_window_limits — are proven and already qubit-competitive. That's where further qubit reduction should go instead of a new encoding.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B2238"/>
                </a:solidFill>
                <a:latin typeface="Calibri"/>
              </a:rPr>
              <a:t>Kept as a documented negative result on explore/binary-encoding, not merged into main (quantum/tests/BINARY_ENCODING_FINDINGS.md) — the boundary is precisely characterized so it doesn't need re-proving if revisited.</a:t>
            </a:r>
          </a:p>
          <a:p>
            <a:pPr algn="l" marL="201168" indent="-201168">
              <a:lnSpc>
                <a:spcPct val="108000"/>
              </a:lnSpc>
              <a:spcAft>
                <a:spcPts val="1200"/>
              </a:spcAft>
              <a:buFont typeface="Arial"/>
              <a:buChar char="•"/>
            </a:pPr>
            <a:r>
              <a:rPr sz="1500" b="0" i="0">
                <a:solidFill>
                  <a:srgbClr val="1B2238"/>
                </a:solidFill>
                <a:latin typeface="Calibri"/>
              </a:rPr>
              <a:t>If ever revisited: stay-in-place-legal + split-field encoding is worth keeping as a building block, but on its own it doesn't change the verdict.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Binary vs. one-hot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9B5DE0"/>
                </a:solidFill>
                <a:latin typeface="Cambria Math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29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4F6FB"/>
                </a:solidFill>
                <a:latin typeface="Calibri"/>
              </a:rPr>
              <a:t>Beyond Path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B9C2DE"/>
                </a:solidFill>
                <a:latin typeface="Calibri"/>
              </a:rPr>
              <a:t>Spooky plans paths to goals it's handed. It doesn't decide which robot gets which goal — that's a layer this system doesn't have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Spooky — QUBO Mathematical Model  ·  Beyond Path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B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CURRENT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Where Spooky's responsibility 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530352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50" b="1" i="0">
                <a:solidFill>
                  <a:srgbClr val="4CD99A"/>
                </a:solidFill>
                <a:latin typeface="Calibri"/>
              </a:rPr>
              <a:t>Spooky solves: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given a fixed (start, goal, priority) per robot, produce collision-free, coordinated paths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windowed, multi-robot, grid or graph, three solver backends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37360"/>
            <a:ext cx="5029200" cy="4206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800"/>
              </a:spcAft>
              <a:buFont typeface="Arial"/>
              <a:buChar char="•"/>
            </a:pPr>
            <a:r>
              <a:rPr sz="1450" b="1" i="0">
                <a:solidFill>
                  <a:srgbClr val="E85C5C"/>
                </a:solidFill>
                <a:latin typeface="Calibri"/>
              </a:rPr>
              <a:t>Spooky does not decide: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which robot is assigned to which task/goal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goal generation from a mission or work-order queue</a:t>
            </a:r>
          </a:p>
          <a:p>
            <a:pPr algn="l" marL="457200" indent="-201168">
              <a:lnSpc>
                <a:spcPct val="108000"/>
              </a:lnSpc>
              <a:spcAft>
                <a:spcPts val="800"/>
              </a:spcAft>
              <a:buFont typeface="Arial"/>
              <a:buChar char="–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re-tasking when a robot finishes, fails, or a new task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C647A"/>
                </a:solidFill>
                <a:latin typeface="Calibri"/>
              </a:rPr>
              <a:t>This is a deliberate boundary today: robot/framework integration (ROS2, DiMOS) is out of scope per CLAUDE.md and handled by argOS, which calls Spooky as a planning backend. Task allocation sits at the same “above Spooky” layer, just not yet built.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Task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PROPOSED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A layer above, not a rewrite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7360" y="1691640"/>
            <a:ext cx="8686800" cy="1051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9B5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37360" y="1691640"/>
            <a:ext cx="109728" cy="1051560"/>
          </a:xfrm>
          <a:prstGeom prst="rect">
            <a:avLst/>
          </a:prstGeom>
          <a:solidFill>
            <a:srgbClr val="9B5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1819656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238"/>
                </a:solidFill>
                <a:latin typeface="Calibri"/>
              </a:rPr>
              <a:t>Task / mission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20370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C647A"/>
                </a:solidFill>
                <a:latin typeface="Calibri"/>
              </a:rPr>
              <a:t>assigns goals to robots — Hungarian algorithm, auction-based, or market-based bidding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770632"/>
            <a:ext cx="274320" cy="256032"/>
          </a:xfrm>
          <a:prstGeom prst="downArrow">
            <a:avLst/>
          </a:prstGeom>
          <a:solidFill>
            <a:srgbClr val="5C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37360" y="3154680"/>
            <a:ext cx="8686800" cy="1051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37360" y="3154680"/>
            <a:ext cx="109728" cy="105156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3282696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238"/>
                </a:solidFill>
                <a:latin typeface="Calibri"/>
              </a:rPr>
              <a:t>Spooky path-planning layer (current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66674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C647A"/>
                </a:solidFill>
                <a:latin typeface="Calibri"/>
              </a:rPr>
              <a:t>collision-free trajectories for a fixed (robot, goal) set — unchanged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43600" y="4233672"/>
            <a:ext cx="274320" cy="256032"/>
          </a:xfrm>
          <a:prstGeom prst="downArrow">
            <a:avLst/>
          </a:prstGeom>
          <a:solidFill>
            <a:srgbClr val="5C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37360" y="4617720"/>
            <a:ext cx="8686800" cy="105156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 w="12700">
            <a:solidFill>
              <a:srgbClr val="4CD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4617720"/>
            <a:ext cx="109728" cy="1051560"/>
          </a:xfrm>
          <a:prstGeom prst="rect">
            <a:avLst/>
          </a:prstGeom>
          <a:solidFill>
            <a:srgbClr val="4C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4745736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238"/>
                </a:solidFill>
                <a:latin typeface="Calibri"/>
              </a:rPr>
              <a:t>Robot execution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512978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C647A"/>
                </a:solidFill>
                <a:latin typeface="Calibri"/>
              </a:rPr>
              <a:t>argOS / ROS2 / DiMOS — already out of scope, already exists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064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C647A"/>
                </a:solidFill>
                <a:latin typeface="Calibri"/>
              </a:rPr>
              <a:t>Interface contract: the task layer emits (robot_id, goal) pairs; everything below that — windowing, penalties, solver choice — stays exactly as it is today.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Task allocation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CC9F0"/>
                </a:solidFill>
                <a:latin typeface="Calibri"/>
              </a:rPr>
              <a:t>PROPOSED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238"/>
                </a:solidFill>
                <a:latin typeface="Calibri"/>
              </a:rPr>
              <a:t>Could allocation also become QUBO?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25296"/>
            <a:ext cx="502920" cy="406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37360"/>
            <a:ext cx="10789920" cy="4023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Task allocation is itself a classic assignment problem — the same family (Max-Cut, TSP, job scheduling) the paper already cites as QUBO-friendly in Related Work.</a:t>
            </a:r>
          </a:p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Linear/generalized assignment penalty-encodes cleanly: one-hot-per-robot over available tasks, plus a cost term for assignment quality — structurally close to what this model already does for one-hot-per-cell.</a:t>
            </a:r>
          </a:p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0">
                <a:solidFill>
                  <a:srgbClr val="1B2238"/>
                </a:solidFill>
                <a:latin typeface="Calibri"/>
              </a:rPr>
              <a:t>Two integration shapes worth weighing, not committing to yet:</a:t>
            </a:r>
          </a:p>
          <a:p>
            <a:pPr algn="l" marL="457200" indent="-201168">
              <a:lnSpc>
                <a:spcPct val="108000"/>
              </a:lnSpc>
              <a:spcAft>
                <a:spcPts val="1100"/>
              </a:spcAft>
              <a:buFont typeface="Arial"/>
              <a:buChar char="–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joint QUBO — allocation and path variables in one solve, for small fleets</a:t>
            </a:r>
          </a:p>
          <a:p>
            <a:pPr algn="l" marL="457200" indent="-201168">
              <a:lnSpc>
                <a:spcPct val="108000"/>
              </a:lnSpc>
              <a:spcAft>
                <a:spcPts val="1100"/>
              </a:spcAft>
              <a:buFont typeface="Arial"/>
              <a:buChar char="–"/>
            </a:pPr>
            <a:r>
              <a:rPr sz="1350" b="0" i="0">
                <a:solidFill>
                  <a:srgbClr val="1B2238"/>
                </a:solidFill>
                <a:latin typeface="Calibri"/>
              </a:rPr>
              <a:t>two-stage QUBO — allocation QUBO's output feeds Spooky's path QUBO, keeping variable count linear as fleet size grows (matches this system's existing linear-scaling story)</a:t>
            </a:r>
          </a:p>
          <a:p>
            <a:pPr algn="l" marL="201168" indent="-201168">
              <a:lnSpc>
                <a:spcPct val="108000"/>
              </a:lnSpc>
              <a:spcAft>
                <a:spcPts val="1100"/>
              </a:spcAft>
              <a:buFont typeface="Arial"/>
              <a:buChar char="•"/>
            </a:pPr>
            <a:r>
              <a:rPr sz="1450" b="0" i="1">
                <a:solidFill>
                  <a:srgbClr val="1B2238"/>
                </a:solidFill>
                <a:latin typeface="Calibri"/>
              </a:rPr>
              <a:t>Flagged as an open design question for future work, not a scoped commitment.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Spooky — QUBO Mathematical Model  ·  Task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C647A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CC9F0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4F6FB"/>
                </a:solidFill>
                <a:latin typeface="Calibri"/>
              </a:rPr>
              <a:t>Where this stands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50592"/>
            <a:ext cx="164592" cy="164592"/>
          </a:xfrm>
          <a:prstGeom prst="rect">
            <a:avLst/>
          </a:prstGeom>
          <a:solidFill>
            <a:srgbClr val="4CD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CD99A"/>
                </a:solidFill>
                <a:latin typeface="Calibri"/>
              </a:rPr>
              <a:t>Proven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359152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7CEE6"/>
                </a:solidFill>
                <a:latin typeface="Calibri"/>
              </a:rPr>
              <a:t>Core + extra penalties, empirical tuning discipline, swap-collision approximation in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27832"/>
            <a:ext cx="164592" cy="164592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1546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A65A"/>
                </a:solidFill>
                <a:latin typeface="Calibri"/>
              </a:rPr>
              <a:t>Documented negative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136392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7CEE6"/>
                </a:solidFill>
                <a:latin typeface="Calibri"/>
              </a:rPr>
              <a:t>Binary encoding — characterized precisely enough to not need re-deriving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05072"/>
            <a:ext cx="164592" cy="164592"/>
          </a:xfrm>
          <a:prstGeom prst="rect">
            <a:avLst/>
          </a:prstGeom>
          <a:solidFill>
            <a:srgbClr val="9B5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9B5DE0"/>
                </a:solidFill>
                <a:latin typeface="Calibri"/>
              </a:rPr>
              <a:t>Open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913632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7CEE6"/>
                </a:solidFill>
                <a:latin typeface="Calibri"/>
              </a:rPr>
              <a:t>Task-allocation layer above path planning — direction proposed, not built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A93B0"/>
                </a:solidFill>
                <a:latin typeface="Calibri"/>
              </a:rPr>
              <a:t>github.com/JavideuS/Spooky  ·  arXiv:2602.14799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